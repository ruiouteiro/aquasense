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0" r:id="rId5"/>
    <p:sldId id="268" r:id="rId6"/>
    <p:sldId id="260" r:id="rId7"/>
    <p:sldId id="266" r:id="rId8"/>
    <p:sldId id="267" r:id="rId9"/>
    <p:sldId id="271" r:id="rId10"/>
    <p:sldId id="265" r:id="rId11"/>
  </p:sldIdLst>
  <p:sldSz cx="18288000" cy="10287000"/>
  <p:notesSz cx="6858000" cy="9144000"/>
  <p:embeddedFontLst>
    <p:embeddedFont>
      <p:font typeface="Barlow Condensed Bold" panose="020B0604020202020204" charset="0"/>
      <p:regular r:id="rId13"/>
    </p:embeddedFont>
    <p:embeddedFont>
      <p:font typeface="Open Sans 1" panose="020B0604020202020204" charset="0"/>
      <p:regular r:id="rId14"/>
    </p:embeddedFont>
    <p:embeddedFont>
      <p:font typeface="Open Sans 1 Bold" panose="020B0604020202020204" charset="0"/>
      <p:regular r:id="rId15"/>
    </p:embeddedFont>
    <p:embeddedFont>
      <p:font typeface="Open Sans 2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70601" autoAdjust="0"/>
  </p:normalViewPr>
  <p:slideViewPr>
    <p:cSldViewPr>
      <p:cViewPr>
        <p:scale>
          <a:sx n="50" d="100"/>
          <a:sy n="50" d="100"/>
        </p:scale>
        <p:origin x="1216" y="3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A3A9F-1ACD-49D2-87DD-50F8D25FA534}" type="datetimeFigureOut">
              <a:rPr lang="pt-PT" smtClean="0"/>
              <a:t>16/12/2025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2FB245-67F5-4180-9113-17F49F342C8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77403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35260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6811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3A71-B0FF-9218-767C-85C5A621F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FB4B-3046-D839-A9EB-7B619E993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78962-99D7-18A4-6A5D-53C98F14E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0841C-134B-8EE1-EA6F-2393BDF1E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5825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10786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5975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5FB6-B81E-4E9A-82FE-3E9D213E7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CF2B7-B64B-EC43-9689-FF2B105E7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BD7364-8276-0214-25C1-DE46FA20E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9E84B-1792-BA2D-C3FC-6A11E473C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9246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06B25-18AE-82D7-C456-B73797835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24E1C2-0906-3BCE-A722-ABCAEFEEC7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DE839-FEBF-0071-A5F6-B9A4B7F65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B7B50-1D3E-5A51-FADC-0211A4FA1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1307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660CD-E941-B3CC-C359-5B9B0F360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37BA5-640A-D15F-ABD2-B62F2DC45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7D2EA-8373-2D1C-228C-44ACB78BB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D9A49-2BA3-1DD4-93FE-25043B0A1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57598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2FB245-67F5-4180-9113-17F49F342C8C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48696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github.com/RuiOuteiro/AquaSens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16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-5522057" y="-1069065"/>
            <a:chExt cx="24384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0518" t="589" b="20301"/>
            <a:stretch>
              <a:fillRect/>
            </a:stretch>
          </p:blipFill>
          <p:spPr>
            <a:xfrm>
              <a:off x="-5522057" y="-1069065"/>
              <a:ext cx="24384000" cy="137160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5862815" y="9979748"/>
            <a:ext cx="614504" cy="61450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970761" y="9979748"/>
            <a:ext cx="614504" cy="6145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088847" y="9979748"/>
            <a:ext cx="614504" cy="6145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20" name="Freeform 20"/>
          <p:cNvSpPr/>
          <p:nvPr/>
        </p:nvSpPr>
        <p:spPr>
          <a:xfrm flipV="1">
            <a:off x="-427986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0" y="2894789"/>
                </a:moveTo>
                <a:lnTo>
                  <a:pt x="2699390" y="2894789"/>
                </a:lnTo>
                <a:lnTo>
                  <a:pt x="2699390" y="0"/>
                </a:lnTo>
                <a:lnTo>
                  <a:pt x="0" y="0"/>
                </a:lnTo>
                <a:lnTo>
                  <a:pt x="0" y="2894789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23" name="TextBox 23"/>
          <p:cNvSpPr txBox="1"/>
          <p:nvPr/>
        </p:nvSpPr>
        <p:spPr>
          <a:xfrm>
            <a:off x="8379828" y="5801788"/>
            <a:ext cx="8384172" cy="1836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t-PT" sz="2100" noProof="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Sistema inteligente para gestão e manutenção de aquários, cujo principal objetivo é automatizar é otimizar tarefas críticas como a iluminação, controlo de parâmetros da água e arrefecimento, tirando partido de conectividade Wi-Fi, aplicação móvel e técnicas de inteligência artificial.</a:t>
            </a:r>
          </a:p>
        </p:txBody>
      </p:sp>
      <p:pic>
        <p:nvPicPr>
          <p:cNvPr id="27" name="Picture 26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6A6E5D89-D0A9-5BDB-A26B-2B794C3D2D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823" y="77911"/>
            <a:ext cx="6641884" cy="66418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923184" y="1875635"/>
            <a:ext cx="5814850" cy="11629699"/>
            <a:chOff x="0" y="0"/>
            <a:chExt cx="317500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75000" cy="6350000"/>
            </a:xfrm>
            <a:custGeom>
              <a:avLst/>
              <a:gdLst/>
              <a:ahLst/>
              <a:cxnLst/>
              <a:rect l="l" t="t" r="r" b="b"/>
              <a:pathLst>
                <a:path w="3175000" h="6350000">
                  <a:moveTo>
                    <a:pt x="1587500" y="6350000"/>
                  </a:moveTo>
                  <a:lnTo>
                    <a:pt x="1587500" y="6350000"/>
                  </a:lnTo>
                  <a:cubicBezTo>
                    <a:pt x="711200" y="6350000"/>
                    <a:pt x="0" y="5638800"/>
                    <a:pt x="0" y="4762500"/>
                  </a:cubicBezTo>
                  <a:lnTo>
                    <a:pt x="0" y="1587500"/>
                  </a:lnTo>
                  <a:cubicBezTo>
                    <a:pt x="0" y="711200"/>
                    <a:pt x="711200" y="0"/>
                    <a:pt x="1587500" y="0"/>
                  </a:cubicBezTo>
                  <a:lnTo>
                    <a:pt x="1587500" y="0"/>
                  </a:lnTo>
                  <a:cubicBezTo>
                    <a:pt x="2463800" y="0"/>
                    <a:pt x="3175000" y="711200"/>
                    <a:pt x="3175000" y="1587500"/>
                  </a:cubicBezTo>
                  <a:lnTo>
                    <a:pt x="3175000" y="4762500"/>
                  </a:lnTo>
                  <a:cubicBezTo>
                    <a:pt x="3175000" y="5638800"/>
                    <a:pt x="2463800" y="6350000"/>
                    <a:pt x="1587500" y="6350000"/>
                  </a:cubicBezTo>
                  <a:close/>
                </a:path>
              </a:pathLst>
            </a:custGeom>
            <a:blipFill>
              <a:blip r:embed="rId3"/>
              <a:stretch>
                <a:fillRect l="-103846" r="-103846"/>
              </a:stretch>
            </a:blipFill>
          </p:spPr>
          <p:txBody>
            <a:bodyPr/>
            <a:lstStyle/>
            <a:p>
              <a:endParaRPr lang="pt-PT" noProof="0"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862815" y="9979748"/>
            <a:ext cx="614504" cy="6145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970761" y="9979748"/>
            <a:ext cx="614504" cy="6145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88847" y="9979748"/>
            <a:ext cx="614504" cy="614504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846853" y="5105400"/>
            <a:ext cx="7559607" cy="1872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t-PT" sz="32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Sistema de iluminação inteligente</a:t>
            </a:r>
          </a:p>
          <a:p>
            <a:pPr algn="l">
              <a:lnSpc>
                <a:spcPts val="2940"/>
              </a:lnSpc>
            </a:pPr>
            <a:r>
              <a:rPr lang="pt-PT" sz="32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Conectividade e aplicação móvel</a:t>
            </a:r>
          </a:p>
          <a:p>
            <a:pPr algn="l">
              <a:lnSpc>
                <a:spcPts val="2940"/>
              </a:lnSpc>
            </a:pPr>
            <a:r>
              <a:rPr lang="pt-PT" sz="32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Monitorização contínua de parâmetros</a:t>
            </a:r>
          </a:p>
          <a:p>
            <a:pPr algn="l">
              <a:lnSpc>
                <a:spcPts val="2940"/>
              </a:lnSpc>
            </a:pPr>
            <a:r>
              <a:rPr lang="pt-PT" sz="32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Alertas</a:t>
            </a:r>
          </a:p>
          <a:p>
            <a:pPr algn="l">
              <a:lnSpc>
                <a:spcPts val="2940"/>
              </a:lnSpc>
            </a:pPr>
            <a:r>
              <a:rPr lang="pt-PT" sz="32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Arrefecimento automático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846853" y="8090534"/>
            <a:ext cx="3161652" cy="635388"/>
            <a:chOff x="0" y="0"/>
            <a:chExt cx="2022220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22220" cy="406400"/>
            </a:xfrm>
            <a:custGeom>
              <a:avLst/>
              <a:gdLst/>
              <a:ahLst/>
              <a:cxnLst/>
              <a:rect l="l" t="t" r="r" b="b"/>
              <a:pathLst>
                <a:path w="2022220" h="406400">
                  <a:moveTo>
                    <a:pt x="1819020" y="0"/>
                  </a:moveTo>
                  <a:cubicBezTo>
                    <a:pt x="1931245" y="0"/>
                    <a:pt x="2022220" y="90976"/>
                    <a:pt x="2022220" y="203200"/>
                  </a:cubicBezTo>
                  <a:cubicBezTo>
                    <a:pt x="2022220" y="315424"/>
                    <a:pt x="1931245" y="406400"/>
                    <a:pt x="181902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61C6F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2022220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19404" y="8111419"/>
            <a:ext cx="614504" cy="614504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846853" y="2506732"/>
            <a:ext cx="7297147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PRINCIPAIS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846853" y="3659534"/>
            <a:ext cx="8708453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pt-PT" sz="8000" b="1" noProof="0" dirty="0">
                <a:solidFill>
                  <a:srgbClr val="2222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FUNCIONALIDADES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rgbClr val="22222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rgbClr val="222222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164460" y="8284404"/>
            <a:ext cx="2526439" cy="27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pt-PT" sz="1800" b="1" noProof="0" dirty="0">
                <a:solidFill>
                  <a:schemeClr val="bg1"/>
                </a:solidFill>
                <a:latin typeface="Open Sans 1 Bold"/>
                <a:ea typeface="Open Sans 1 Bold"/>
                <a:cs typeface="Open Sans 1 Bold"/>
                <a:sym typeface="Open Sans 1 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Mais informação</a:t>
            </a:r>
            <a:endParaRPr lang="pt-PT" sz="1800" b="1" noProof="0" dirty="0">
              <a:solidFill>
                <a:schemeClr val="bg1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9694317" y="7461337"/>
            <a:ext cx="3703621" cy="356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t-PT" sz="2100" b="1" noProof="0" dirty="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Bem estar</a:t>
            </a:r>
          </a:p>
        </p:txBody>
      </p:sp>
      <p:sp>
        <p:nvSpPr>
          <p:cNvPr id="38" name="Freeform 38"/>
          <p:cNvSpPr/>
          <p:nvPr/>
        </p:nvSpPr>
        <p:spPr>
          <a:xfrm flipV="1">
            <a:off x="-427986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0" y="2894789"/>
                </a:moveTo>
                <a:lnTo>
                  <a:pt x="2699390" y="2894789"/>
                </a:lnTo>
                <a:lnTo>
                  <a:pt x="2699390" y="0"/>
                </a:lnTo>
                <a:lnTo>
                  <a:pt x="0" y="0"/>
                </a:lnTo>
                <a:lnTo>
                  <a:pt x="0" y="2894789"/>
                </a:lnTo>
                <a:close/>
              </a:path>
            </a:pathLst>
          </a:custGeom>
          <a:blipFill>
            <a:blip r:embed="rId5">
              <a:alphaModFix amt="4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pic>
        <p:nvPicPr>
          <p:cNvPr id="39" name="Picture 38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627C977F-E0E1-1A2D-E404-3A0BCC5FA73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16200" y="9979748"/>
            <a:ext cx="614504" cy="61450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924146" y="9979748"/>
            <a:ext cx="614504" cy="61450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42233" y="9979748"/>
            <a:ext cx="614504" cy="61450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429750" y="3995227"/>
            <a:ext cx="8376689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PT" sz="2100" dirty="0"/>
              <a:t>Kit básico de início para ESP32: microcontrolador central responsável pela leitura dos sensores e controlo das ações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Fita LED 12V: iluminação controlada pelo ESP32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Fonte 12V DC 2A :alimentação da fita LED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Adaptador DC fêmea: Para obter uma ligação segura da fonte de alimentação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MOSFET IRLZ44N (x2): Para controlar a voltagem da fita LED e ventoinha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Resistências 220Ω: para proteção e condicionamento de sinal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Ventoinha 12V: sistema de arrefecimento controlado automaticamente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LDR: sensor de luminosidade para deteção de </a:t>
            </a:r>
            <a:r>
              <a:rPr lang="pt-PT" sz="2100" i="1" dirty="0" err="1"/>
              <a:t>fitoplancton</a:t>
            </a:r>
            <a:r>
              <a:rPr lang="pt-PT" sz="2100" dirty="0"/>
              <a:t> na coluna de água.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DS18B20: sensor de temperatura da água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Sonda de PH + módulo PH-4502C: medição do PH da água através de saída analógica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Cabos e </a:t>
            </a:r>
            <a:r>
              <a:rPr lang="pt-PT" sz="2100" i="1" dirty="0" err="1"/>
              <a:t>breadboard</a:t>
            </a:r>
            <a:r>
              <a:rPr lang="pt-PT" sz="2100" dirty="0"/>
              <a:t>: prototipagem e ligações elétricas</a:t>
            </a:r>
          </a:p>
          <a:p>
            <a:pPr marL="457200" indent="-457200">
              <a:buFont typeface="+mj-lt"/>
              <a:buAutoNum type="arabicPeriod"/>
            </a:pPr>
            <a:r>
              <a:rPr lang="pt-PT" sz="2100" dirty="0"/>
              <a:t>Caixa plástica: Para a proteção e organização do hardware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29750" y="2358979"/>
            <a:ext cx="7047569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Protótipo</a:t>
            </a:r>
          </a:p>
          <a:p>
            <a:pPr algn="l">
              <a:lnSpc>
                <a:spcPts val="9600"/>
              </a:lnSpc>
            </a:pPr>
            <a:endParaRPr lang="pt-PT" sz="9600" b="1" noProof="0" dirty="0">
              <a:solidFill>
                <a:srgbClr val="5CE1E6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40" name="Freeform 40"/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195DEDE1-5255-9B39-F068-0A3111719031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rgbClr val="22222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rgbClr val="222222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D848B8C9-4472-F07A-AF36-8E513C6D76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898EB07-FA1E-4A8D-2F8E-9E890770C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96691" y="2357602"/>
            <a:ext cx="7803939" cy="3628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0B27DE-5E00-9D1C-DC5A-4C91B2AD02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113" y="5676899"/>
            <a:ext cx="8039715" cy="4162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1C766-F9A0-7E5C-7DCD-654C82BE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E3C52BE-2D0F-1CA0-56B8-D7D998DD692E}"/>
              </a:ext>
            </a:extLst>
          </p:cNvPr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D374F36-00D5-EB21-15B5-2B20EF14A95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703BF0-5E93-F566-97CB-B4F8BC7084BE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A80909A-5B7A-C87F-72FA-3126A5E833D3}"/>
              </a:ext>
            </a:extLst>
          </p:cNvPr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0F61C3-1264-490A-4E88-BF95B536D1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D7BBB91-D40B-18FF-C4AA-C203B8681EAF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CE1FF85-8BEE-5B6F-2FE7-0C166388AF46}"/>
              </a:ext>
            </a:extLst>
          </p:cNvPr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0D82C7D-98C5-0436-5B89-3C340AA5B4E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E1A9FD0-4C57-7C4D-7F97-5063986842B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0A94B122-830A-9DE1-F354-E8BB57CB7879}"/>
              </a:ext>
            </a:extLst>
          </p:cNvPr>
          <p:cNvGrpSpPr/>
          <p:nvPr/>
        </p:nvGrpSpPr>
        <p:grpSpPr>
          <a:xfrm>
            <a:off x="12816200" y="9979748"/>
            <a:ext cx="614504" cy="614504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8CCF893-C29F-7F2C-7CE4-A8750E4DA36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62F4D55-BD1E-95F5-7F05-EAC464DD49B9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4CE9259-3032-8BC5-16E3-291C97DDB4C0}"/>
              </a:ext>
            </a:extLst>
          </p:cNvPr>
          <p:cNvGrpSpPr/>
          <p:nvPr/>
        </p:nvGrpSpPr>
        <p:grpSpPr>
          <a:xfrm>
            <a:off x="11924146" y="9979748"/>
            <a:ext cx="614504" cy="614504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3DEF5B7-8FC3-788C-034A-D479F6C3E9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1A6336B3-DCCF-185B-B8B7-4331A22283C9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330CC33-52EA-94FF-A00C-359FAFEBC7C3}"/>
              </a:ext>
            </a:extLst>
          </p:cNvPr>
          <p:cNvGrpSpPr/>
          <p:nvPr/>
        </p:nvGrpSpPr>
        <p:grpSpPr>
          <a:xfrm>
            <a:off x="11042233" y="9979748"/>
            <a:ext cx="614504" cy="614504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6BF8B82-2625-AB09-0A81-1E5A41D1274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06D7352F-F0BC-AEB4-B5B0-954D89DD5464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92A0A670-296E-C56F-88E9-BE610B7B7DBA}"/>
              </a:ext>
            </a:extLst>
          </p:cNvPr>
          <p:cNvSpPr txBox="1"/>
          <p:nvPr/>
        </p:nvSpPr>
        <p:spPr>
          <a:xfrm>
            <a:off x="6051936" y="1590945"/>
            <a:ext cx="8553450" cy="24622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Fotos do Protótipo</a:t>
            </a:r>
          </a:p>
          <a:p>
            <a:pPr algn="l">
              <a:lnSpc>
                <a:spcPts val="9600"/>
              </a:lnSpc>
            </a:pPr>
            <a:endParaRPr lang="pt-PT" sz="9600" b="1" noProof="0" dirty="0">
              <a:solidFill>
                <a:srgbClr val="5CE1E6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4E50C01-60D2-96EB-F758-2F9693F1E67D}"/>
              </a:ext>
            </a:extLst>
          </p:cNvPr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6CA45139-4986-2A36-2719-7630E201D623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rgbClr val="22222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rgbClr val="222222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31D1067D-A670-7011-5B5F-07A3CB51C3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2F89EB-0543-AC0E-BBD7-750404B1B492}"/>
              </a:ext>
            </a:extLst>
          </p:cNvPr>
          <p:cNvSpPr/>
          <p:nvPr/>
        </p:nvSpPr>
        <p:spPr>
          <a:xfrm>
            <a:off x="7162800" y="7277100"/>
            <a:ext cx="1828800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22" name="Picture 2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CFAF183-869E-2901-3233-DC43433464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0667" y="4019881"/>
            <a:ext cx="4385569" cy="5842927"/>
          </a:xfrm>
          <a:prstGeom prst="rect">
            <a:avLst/>
          </a:prstGeom>
        </p:spPr>
      </p:pic>
      <p:pic>
        <p:nvPicPr>
          <p:cNvPr id="24" name="Picture 23" descr="A circuit board with wires connected to it&#10;&#10;AI-generated content may be incorrect.">
            <a:extLst>
              <a:ext uri="{FF2B5EF4-FFF2-40B4-BE49-F238E27FC236}">
                <a16:creationId xmlns:a16="http://schemas.microsoft.com/office/drawing/2014/main" id="{61747322-2C19-D985-4C62-C5FC608EA89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305" y="4019881"/>
            <a:ext cx="4342735" cy="5790313"/>
          </a:xfrm>
          <a:prstGeom prst="rect">
            <a:avLst/>
          </a:prstGeom>
        </p:spPr>
      </p:pic>
      <p:sp>
        <p:nvSpPr>
          <p:cNvPr id="25" name="TextBox 36">
            <a:extLst>
              <a:ext uri="{FF2B5EF4-FFF2-40B4-BE49-F238E27FC236}">
                <a16:creationId xmlns:a16="http://schemas.microsoft.com/office/drawing/2014/main" id="{FA95B479-2BBB-520C-2B00-0E7B737B9A13}"/>
              </a:ext>
            </a:extLst>
          </p:cNvPr>
          <p:cNvSpPr txBox="1"/>
          <p:nvPr/>
        </p:nvSpPr>
        <p:spPr>
          <a:xfrm>
            <a:off x="1737316" y="3364525"/>
            <a:ext cx="367844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2400" dirty="0"/>
              <a:t>Sistema com os leds acesos</a:t>
            </a:r>
          </a:p>
        </p:txBody>
      </p:sp>
      <p:sp>
        <p:nvSpPr>
          <p:cNvPr id="26" name="TextBox 36">
            <a:extLst>
              <a:ext uri="{FF2B5EF4-FFF2-40B4-BE49-F238E27FC236}">
                <a16:creationId xmlns:a16="http://schemas.microsoft.com/office/drawing/2014/main" id="{F15A933B-8B3F-BBA4-FB61-B29D3BED9DB2}"/>
              </a:ext>
            </a:extLst>
          </p:cNvPr>
          <p:cNvSpPr txBox="1"/>
          <p:nvPr/>
        </p:nvSpPr>
        <p:spPr>
          <a:xfrm>
            <a:off x="11139035" y="3364525"/>
            <a:ext cx="446811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2400" dirty="0"/>
              <a:t>Sistema com os leds apagados</a:t>
            </a:r>
          </a:p>
        </p:txBody>
      </p:sp>
    </p:spTree>
    <p:extLst>
      <p:ext uri="{BB962C8B-B14F-4D97-AF65-F5344CB8AC3E}">
        <p14:creationId xmlns:p14="http://schemas.microsoft.com/office/powerpoint/2010/main" val="192451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16200" y="9979748"/>
            <a:ext cx="614504" cy="61450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924146" y="9979748"/>
            <a:ext cx="614504" cy="61450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042233" y="9979748"/>
            <a:ext cx="614504" cy="61450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27535" y="2478954"/>
            <a:ext cx="169926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8000" dirty="0"/>
              <a:t>Arquitetura do Protótipo Implementado</a:t>
            </a:r>
            <a:endParaRPr lang="pt-PT" sz="8000" b="1" noProof="0" dirty="0">
              <a:solidFill>
                <a:srgbClr val="5CE1E6"/>
              </a:solidFill>
              <a:latin typeface="Barlow Condensed Bold" panose="020B0604020202020204" charset="0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40" name="Freeform 40"/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195DEDE1-5255-9B39-F068-0A3111719031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rgbClr val="22222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rgbClr val="222222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D848B8C9-4472-F07A-AF36-8E513C6D76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1BBA356-27CD-B7BE-525D-24AEDFADE93F}"/>
              </a:ext>
            </a:extLst>
          </p:cNvPr>
          <p:cNvSpPr/>
          <p:nvPr/>
        </p:nvSpPr>
        <p:spPr>
          <a:xfrm>
            <a:off x="10487143" y="5251448"/>
            <a:ext cx="2113764" cy="86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/>
              <a:t>HTTP/REST</a:t>
            </a:r>
            <a:endParaRPr lang="pt-PT" sz="3000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C39A19B-0D78-6B11-7CAD-8C2219B94F69}"/>
              </a:ext>
            </a:extLst>
          </p:cNvPr>
          <p:cNvSpPr/>
          <p:nvPr/>
        </p:nvSpPr>
        <p:spPr>
          <a:xfrm>
            <a:off x="14979037" y="5223239"/>
            <a:ext cx="2363195" cy="86636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000" dirty="0"/>
              <a:t>Cliente (Browser)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1B17D4A8-8F5C-87FD-CB6D-F11B529CA922}"/>
              </a:ext>
            </a:extLst>
          </p:cNvPr>
          <p:cNvSpPr/>
          <p:nvPr/>
        </p:nvSpPr>
        <p:spPr>
          <a:xfrm>
            <a:off x="5488922" y="5263874"/>
            <a:ext cx="2363194" cy="8895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/>
              <a:t>ESP32</a:t>
            </a:r>
            <a:endParaRPr lang="pt-PT" sz="3000" dirty="0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72609927-B98D-0DAB-1C78-AE3FC5CBF4A1}"/>
              </a:ext>
            </a:extLst>
          </p:cNvPr>
          <p:cNvSpPr/>
          <p:nvPr/>
        </p:nvSpPr>
        <p:spPr>
          <a:xfrm>
            <a:off x="5087041" y="7808046"/>
            <a:ext cx="3354891" cy="9127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000" dirty="0"/>
              <a:t>LED (PWM via MOSFET)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513C5589-72A2-DF65-BA77-08A5621DC18E}"/>
              </a:ext>
            </a:extLst>
          </p:cNvPr>
          <p:cNvSpPr/>
          <p:nvPr/>
        </p:nvSpPr>
        <p:spPr>
          <a:xfrm>
            <a:off x="202135" y="5239855"/>
            <a:ext cx="2829619" cy="93758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/>
              <a:t>DHT22 </a:t>
            </a:r>
            <a:endParaRPr lang="pt-PT" sz="3000" dirty="0"/>
          </a:p>
        </p:txBody>
      </p:sp>
      <p:sp>
        <p:nvSpPr>
          <p:cNvPr id="47" name="Seta: Para a Direita 46">
            <a:extLst>
              <a:ext uri="{FF2B5EF4-FFF2-40B4-BE49-F238E27FC236}">
                <a16:creationId xmlns:a16="http://schemas.microsoft.com/office/drawing/2014/main" id="{F0ED0166-2A9A-7138-7264-83D2B582B1BC}"/>
              </a:ext>
            </a:extLst>
          </p:cNvPr>
          <p:cNvSpPr/>
          <p:nvPr/>
        </p:nvSpPr>
        <p:spPr>
          <a:xfrm>
            <a:off x="3771134" y="5414105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8" name="Seta: Para a Direita 47">
            <a:extLst>
              <a:ext uri="{FF2B5EF4-FFF2-40B4-BE49-F238E27FC236}">
                <a16:creationId xmlns:a16="http://schemas.microsoft.com/office/drawing/2014/main" id="{07E403AA-2992-BEC4-22AF-4A4E092E9E0D}"/>
              </a:ext>
            </a:extLst>
          </p:cNvPr>
          <p:cNvSpPr/>
          <p:nvPr/>
        </p:nvSpPr>
        <p:spPr>
          <a:xfrm rot="16200000">
            <a:off x="6275283" y="6698198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9" name="Seta: Para a Direita 48">
            <a:extLst>
              <a:ext uri="{FF2B5EF4-FFF2-40B4-BE49-F238E27FC236}">
                <a16:creationId xmlns:a16="http://schemas.microsoft.com/office/drawing/2014/main" id="{34E09C96-989A-102D-DD02-CAE210166561}"/>
              </a:ext>
            </a:extLst>
          </p:cNvPr>
          <p:cNvSpPr/>
          <p:nvPr/>
        </p:nvSpPr>
        <p:spPr>
          <a:xfrm>
            <a:off x="8934202" y="5442314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0" name="Seta: Para a Direita 49">
            <a:extLst>
              <a:ext uri="{FF2B5EF4-FFF2-40B4-BE49-F238E27FC236}">
                <a16:creationId xmlns:a16="http://schemas.microsoft.com/office/drawing/2014/main" id="{51495223-65BB-25E8-182F-419CFBD4E314}"/>
              </a:ext>
            </a:extLst>
          </p:cNvPr>
          <p:cNvSpPr/>
          <p:nvPr/>
        </p:nvSpPr>
        <p:spPr>
          <a:xfrm>
            <a:off x="13461794" y="5414105"/>
            <a:ext cx="978408" cy="4846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0365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8725858" cy="10287000"/>
            <a:chOff x="0" y="0"/>
            <a:chExt cx="5948901" cy="1371600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33735" r="33735"/>
            <a:stretch>
              <a:fillRect/>
            </a:stretch>
          </p:blipFill>
          <p:spPr>
            <a:xfrm>
              <a:off x="0" y="0"/>
              <a:ext cx="5948901" cy="13716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83011" y="9979748"/>
            <a:ext cx="614504" cy="61450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190957" y="9979748"/>
            <a:ext cx="614504" cy="61450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09044" y="9979748"/>
            <a:ext cx="614504" cy="61450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1" name="Freeform 31"/>
          <p:cNvSpPr/>
          <p:nvPr/>
        </p:nvSpPr>
        <p:spPr>
          <a:xfrm rot="-5400000">
            <a:off x="-260263" y="5518072"/>
            <a:ext cx="8923351" cy="8923351"/>
          </a:xfrm>
          <a:custGeom>
            <a:avLst/>
            <a:gdLst/>
            <a:ahLst/>
            <a:cxnLst/>
            <a:rect l="l" t="t" r="r" b="b"/>
            <a:pathLst>
              <a:path w="8923351" h="8923351">
                <a:moveTo>
                  <a:pt x="0" y="0"/>
                </a:moveTo>
                <a:lnTo>
                  <a:pt x="8923351" y="0"/>
                </a:lnTo>
                <a:lnTo>
                  <a:pt x="8923351" y="8923351"/>
                </a:lnTo>
                <a:lnTo>
                  <a:pt x="0" y="8923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3" name="TextBox 33"/>
          <p:cNvSpPr txBox="1"/>
          <p:nvPr/>
        </p:nvSpPr>
        <p:spPr>
          <a:xfrm>
            <a:off x="10309044" y="2369462"/>
            <a:ext cx="7426260" cy="1025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00"/>
              </a:lnSpc>
            </a:pPr>
            <a:r>
              <a:rPr lang="pt-PT" sz="8000" b="1" noProof="0" dirty="0">
                <a:solidFill>
                  <a:srgbClr val="2222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ESP32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09044" y="1265515"/>
            <a:ext cx="711090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SOFTWARE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78949" y="3294493"/>
            <a:ext cx="6501999" cy="5183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Arduino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IDE (ou </a:t>
            </a: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PlatformIO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em </a:t>
            </a: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VSCode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)</a:t>
            </a:r>
          </a:p>
          <a:p>
            <a:pPr algn="l">
              <a:lnSpc>
                <a:spcPts val="2940"/>
              </a:lnSpc>
            </a:pPr>
            <a:endParaRPr lang="pt-PT" sz="2100" noProof="0" dirty="0">
              <a:solidFill>
                <a:srgbClr val="222222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2940"/>
              </a:lnSpc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Bibliotecas </a:t>
            </a: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Arduino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: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WiFi.h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ligação à rede Wi-Fi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HTTPClient.h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envio de dados via REST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ArduinoJson.h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codificação/descodificação de JSON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OneWire.h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comunicação com o DS18B20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DallasTemperature.h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temperatura da água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analogRead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() + ESP32AnalogRead (opcional) - leitura do pH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DHT.h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sensor de temperatura ambiente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LEDC (PWM) - controlo da iluminação</a:t>
            </a:r>
          </a:p>
          <a:p>
            <a:pPr marL="342900" indent="-342900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time.h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sincronização NTP</a:t>
            </a:r>
          </a:p>
        </p:txBody>
      </p:sp>
      <p:sp>
        <p:nvSpPr>
          <p:cNvPr id="42" name="Freeform 42"/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6CDACB05-CC7D-5EBB-360F-FF813F162E2C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F5156992-A683-ABD0-E14D-C31E209FA3B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C2131B-EB09-D5BC-E8AF-DF7622F96AD7}"/>
              </a:ext>
            </a:extLst>
          </p:cNvPr>
          <p:cNvSpPr txBox="1"/>
          <p:nvPr/>
        </p:nvSpPr>
        <p:spPr>
          <a:xfrm>
            <a:off x="8999892" y="8995746"/>
            <a:ext cx="9468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2400" b="1" dirty="0"/>
              <a:t>Utilizado no protótipo: </a:t>
            </a:r>
            <a:r>
              <a:rPr lang="pt-PT" sz="2400" b="1" dirty="0" err="1"/>
              <a:t>WiFi.h</a:t>
            </a:r>
            <a:r>
              <a:rPr lang="pt-PT" sz="2400" b="1" dirty="0"/>
              <a:t>, </a:t>
            </a:r>
            <a:r>
              <a:rPr lang="pt-PT" sz="2400" b="1" dirty="0" err="1"/>
              <a:t>DHT.h</a:t>
            </a:r>
            <a:r>
              <a:rPr lang="pt-PT" sz="2400" b="1" dirty="0"/>
              <a:t>, LEDC (PWM), HTTP/REST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C13B-0315-3165-9B05-C86C8CBE9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m da infraestrutura">
            <a:extLst>
              <a:ext uri="{FF2B5EF4-FFF2-40B4-BE49-F238E27FC236}">
                <a16:creationId xmlns:a16="http://schemas.microsoft.com/office/drawing/2014/main" id="{60E62E36-D7EF-8130-7782-62F265234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0956" y="447405"/>
            <a:ext cx="6925603" cy="979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397D9061-D6CD-D884-9772-7DA4A87C58F4}"/>
              </a:ext>
            </a:extLst>
          </p:cNvPr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9351AC9-C84B-4308-8E19-71436119CC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A959204-1295-BD41-C6D8-E0480A5291E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4FEB26FA-FB50-EAB9-2C81-73ADFB0754A4}"/>
              </a:ext>
            </a:extLst>
          </p:cNvPr>
          <p:cNvGrpSpPr/>
          <p:nvPr/>
        </p:nvGrpSpPr>
        <p:grpSpPr>
          <a:xfrm>
            <a:off x="0" y="0"/>
            <a:ext cx="8725858" cy="10287000"/>
            <a:chOff x="0" y="0"/>
            <a:chExt cx="5948901" cy="1371600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3F22CC24-1D53-B844-B3ED-DF163C322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3735" r="33735"/>
            <a:stretch>
              <a:fillRect/>
            </a:stretch>
          </p:blipFill>
          <p:spPr>
            <a:xfrm>
              <a:off x="0" y="0"/>
              <a:ext cx="5948901" cy="13716000"/>
            </a:xfrm>
            <a:prstGeom prst="rect">
              <a:avLst/>
            </a:prstGeom>
          </p:spPr>
        </p:pic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8AF8CA2-F1C9-0C69-1B8C-A1AAB7E228D3}"/>
              </a:ext>
            </a:extLst>
          </p:cNvPr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AA9B684-1B25-C8F5-FF13-929727574B1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030D5E9-D564-58EF-3900-F3C849D1D0F4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22A5108-7F94-8189-4A26-191A2E9219A7}"/>
              </a:ext>
            </a:extLst>
          </p:cNvPr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29F8064-10C0-2B67-525E-41D7DDFA6A5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E23113C-5E1F-4304-D2F0-803086FD8BC9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266345C-67A2-1BE3-586B-482A29D5FBB2}"/>
              </a:ext>
            </a:extLst>
          </p:cNvPr>
          <p:cNvGrpSpPr/>
          <p:nvPr/>
        </p:nvGrpSpPr>
        <p:grpSpPr>
          <a:xfrm>
            <a:off x="12083011" y="9979748"/>
            <a:ext cx="614504" cy="614504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A7C96E4-9B04-3137-D307-57B4569E502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D4E52A1-D7FE-B7C6-BB51-ACEDA7F23E7B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A7A2D71-E074-2AAE-1B59-3D7BD82FDEC4}"/>
              </a:ext>
            </a:extLst>
          </p:cNvPr>
          <p:cNvGrpSpPr/>
          <p:nvPr/>
        </p:nvGrpSpPr>
        <p:grpSpPr>
          <a:xfrm>
            <a:off x="11190957" y="9979748"/>
            <a:ext cx="614504" cy="614504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39DBCBC-EACF-D5B3-9C00-9A268F06A1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2E124105-6EE5-9D99-221C-0DF5FC929B6B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61BFB78-4F5D-2F02-88A7-5F6441A7978D}"/>
              </a:ext>
            </a:extLst>
          </p:cNvPr>
          <p:cNvGrpSpPr/>
          <p:nvPr/>
        </p:nvGrpSpPr>
        <p:grpSpPr>
          <a:xfrm>
            <a:off x="10309044" y="9979748"/>
            <a:ext cx="614504" cy="614504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330ECA4-4C5A-037F-CA2F-FD5951D677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3670CC8F-862F-2297-61CB-1D163E6C12D7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1" name="Freeform 31">
            <a:extLst>
              <a:ext uri="{FF2B5EF4-FFF2-40B4-BE49-F238E27FC236}">
                <a16:creationId xmlns:a16="http://schemas.microsoft.com/office/drawing/2014/main" id="{F83C51BA-D555-A35B-6C28-2D90B9E5BA78}"/>
              </a:ext>
            </a:extLst>
          </p:cNvPr>
          <p:cNvSpPr/>
          <p:nvPr/>
        </p:nvSpPr>
        <p:spPr>
          <a:xfrm rot="-5400000">
            <a:off x="-260263" y="5518072"/>
            <a:ext cx="8923351" cy="8923351"/>
          </a:xfrm>
          <a:custGeom>
            <a:avLst/>
            <a:gdLst/>
            <a:ahLst/>
            <a:cxnLst/>
            <a:rect l="l" t="t" r="r" b="b"/>
            <a:pathLst>
              <a:path w="8923351" h="8923351">
                <a:moveTo>
                  <a:pt x="0" y="0"/>
                </a:moveTo>
                <a:lnTo>
                  <a:pt x="8923351" y="0"/>
                </a:lnTo>
                <a:lnTo>
                  <a:pt x="8923351" y="8923351"/>
                </a:lnTo>
                <a:lnTo>
                  <a:pt x="0" y="8923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B02B220-5820-DC87-5232-3661952722C0}"/>
              </a:ext>
            </a:extLst>
          </p:cNvPr>
          <p:cNvSpPr txBox="1"/>
          <p:nvPr/>
        </p:nvSpPr>
        <p:spPr>
          <a:xfrm>
            <a:off x="5962000" y="647700"/>
            <a:ext cx="711090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ARQUITETURA PLANEADA</a:t>
            </a:r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FF91D078-E22B-9F37-0ED0-09BF5AB38BCC}"/>
              </a:ext>
            </a:extLst>
          </p:cNvPr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7">
              <a:alphaModFix amt="49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CECB003E-EAA8-8A47-1A74-209C4B4D83B7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6CBEE891-D18C-3366-FA36-D009B4D1AF8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9833-87BC-0FBA-24C0-28B4A434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E8BB2C-3320-AC90-258F-FB86BE5395A9}"/>
              </a:ext>
            </a:extLst>
          </p:cNvPr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0E5339-542D-538F-6EC0-0FE92DA73CF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DA31F1D-1A22-A068-D285-67799F26496E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67ED9F2-9D04-7F89-2EAF-A4A9341EF314}"/>
              </a:ext>
            </a:extLst>
          </p:cNvPr>
          <p:cNvGrpSpPr/>
          <p:nvPr/>
        </p:nvGrpSpPr>
        <p:grpSpPr>
          <a:xfrm>
            <a:off x="0" y="0"/>
            <a:ext cx="8725858" cy="10287000"/>
            <a:chOff x="0" y="0"/>
            <a:chExt cx="5948901" cy="13716000"/>
          </a:xfrm>
        </p:grpSpPr>
        <p:pic>
          <p:nvPicPr>
            <p:cNvPr id="6" name="Picture 6">
              <a:extLst>
                <a:ext uri="{FF2B5EF4-FFF2-40B4-BE49-F238E27FC236}">
                  <a16:creationId xmlns:a16="http://schemas.microsoft.com/office/drawing/2014/main" id="{D572ADA2-B02C-1E80-4A99-D596E37F0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3735" r="33735"/>
            <a:stretch>
              <a:fillRect/>
            </a:stretch>
          </p:blipFill>
          <p:spPr>
            <a:xfrm>
              <a:off x="0" y="0"/>
              <a:ext cx="5948901" cy="13716000"/>
            </a:xfrm>
            <a:prstGeom prst="rect">
              <a:avLst/>
            </a:prstGeom>
          </p:spPr>
        </p:pic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5B662A5-6E17-A80C-8AFD-3D20525D73D0}"/>
              </a:ext>
            </a:extLst>
          </p:cNvPr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DF2187C-59F0-8950-E7A7-17DC8E5E15C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CB4FC36D-F98A-7D32-2E32-07FF44E62940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BE5F035-0842-371E-5455-14940A361B3E}"/>
              </a:ext>
            </a:extLst>
          </p:cNvPr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1D753BD-CF36-57D6-34C6-B965F31F97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86B56E9-B828-43BD-6426-5741306462DF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D8EB799C-9523-D4B6-A0CD-B7CECEDEF446}"/>
              </a:ext>
            </a:extLst>
          </p:cNvPr>
          <p:cNvGrpSpPr/>
          <p:nvPr/>
        </p:nvGrpSpPr>
        <p:grpSpPr>
          <a:xfrm>
            <a:off x="12083011" y="9979748"/>
            <a:ext cx="614504" cy="614504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5BB31DA-6779-599A-C98F-98178CEBBBB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D2428C29-35E6-E3F4-D8EA-B4CFAE85C498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838F4F-FCDC-B763-561F-2A69A3B4EBC4}"/>
              </a:ext>
            </a:extLst>
          </p:cNvPr>
          <p:cNvGrpSpPr/>
          <p:nvPr/>
        </p:nvGrpSpPr>
        <p:grpSpPr>
          <a:xfrm>
            <a:off x="11190957" y="9979748"/>
            <a:ext cx="614504" cy="614504"/>
            <a:chOff x="0" y="0"/>
            <a:chExt cx="812800" cy="8128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FC4D099-939C-404C-38F6-E695C681F6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988DE52-FD52-9509-75C0-B9F49DA04711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BAB783D-6818-0982-7D05-48564657D5A7}"/>
              </a:ext>
            </a:extLst>
          </p:cNvPr>
          <p:cNvGrpSpPr/>
          <p:nvPr/>
        </p:nvGrpSpPr>
        <p:grpSpPr>
          <a:xfrm>
            <a:off x="10309044" y="9979748"/>
            <a:ext cx="614504" cy="614504"/>
            <a:chOff x="0" y="0"/>
            <a:chExt cx="812800" cy="8128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55E4E6B-8BF9-4AFD-E145-0DAB35E827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A0F06AA-8971-D3BE-6AC1-D64FED90DF9B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1" name="Freeform 31">
            <a:extLst>
              <a:ext uri="{FF2B5EF4-FFF2-40B4-BE49-F238E27FC236}">
                <a16:creationId xmlns:a16="http://schemas.microsoft.com/office/drawing/2014/main" id="{B79D486E-47ED-D66C-E126-3B7E00225428}"/>
              </a:ext>
            </a:extLst>
          </p:cNvPr>
          <p:cNvSpPr/>
          <p:nvPr/>
        </p:nvSpPr>
        <p:spPr>
          <a:xfrm rot="-5400000">
            <a:off x="-260263" y="5518072"/>
            <a:ext cx="8923351" cy="8923351"/>
          </a:xfrm>
          <a:custGeom>
            <a:avLst/>
            <a:gdLst/>
            <a:ahLst/>
            <a:cxnLst/>
            <a:rect l="l" t="t" r="r" b="b"/>
            <a:pathLst>
              <a:path w="8923351" h="8923351">
                <a:moveTo>
                  <a:pt x="0" y="0"/>
                </a:moveTo>
                <a:lnTo>
                  <a:pt x="8923351" y="0"/>
                </a:lnTo>
                <a:lnTo>
                  <a:pt x="8923351" y="8923351"/>
                </a:lnTo>
                <a:lnTo>
                  <a:pt x="0" y="89233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F0B7F44D-BF81-3D2F-8FE2-55268B4C5B59}"/>
              </a:ext>
            </a:extLst>
          </p:cNvPr>
          <p:cNvSpPr txBox="1"/>
          <p:nvPr/>
        </p:nvSpPr>
        <p:spPr>
          <a:xfrm>
            <a:off x="10309044" y="2229790"/>
            <a:ext cx="711090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SOFTWARE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86A13E2-B4D1-E14A-58AB-47EE4A82F2A8}"/>
              </a:ext>
            </a:extLst>
          </p:cNvPr>
          <p:cNvSpPr txBox="1"/>
          <p:nvPr/>
        </p:nvSpPr>
        <p:spPr>
          <a:xfrm>
            <a:off x="10220306" y="3741457"/>
            <a:ext cx="6501999" cy="5554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t-PT" sz="2100" b="1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Frontend</a:t>
            </a:r>
            <a:endParaRPr lang="pt-PT" sz="2100" b="1" noProof="0" dirty="0">
              <a:solidFill>
                <a:srgbClr val="222222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HTML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CSS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JavaScript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endParaRPr lang="pt-PT" sz="2100" dirty="0">
              <a:solidFill>
                <a:srgbClr val="222222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2940"/>
              </a:lnSpc>
            </a:pPr>
            <a:r>
              <a:rPr lang="pt-PT" sz="2100" b="1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Inteligência Artificial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Python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3.10+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Bibliotecas: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pandas - limpeza e organização dos dados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numpy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operações matemáticas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scikit-learn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modelos preditivos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matplotlib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gráficos e análises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seaborn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visualização de dados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joblib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guardar/carregar modelos</a:t>
            </a:r>
          </a:p>
          <a:p>
            <a:pPr marL="342900" indent="-342900" algn="l">
              <a:lnSpc>
                <a:spcPts val="2940"/>
              </a:lnSpc>
              <a:buFont typeface="Arial" panose="020B0604020202020204" pitchFamily="34" charset="0"/>
              <a:buChar char="•"/>
            </a:pPr>
            <a:r>
              <a:rPr lang="pt-PT" sz="2100" noProof="0" dirty="0" err="1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requests</a:t>
            </a:r>
            <a:r>
              <a:rPr lang="pt-PT" sz="2100" noProof="0" dirty="0">
                <a:solidFill>
                  <a:srgbClr val="222222"/>
                </a:solidFill>
                <a:latin typeface="Open Sans 1"/>
                <a:ea typeface="Open Sans 1"/>
                <a:cs typeface="Open Sans 1"/>
                <a:sym typeface="Open Sans 1"/>
              </a:rPr>
              <a:t> - fazer chamadas externas</a:t>
            </a:r>
          </a:p>
        </p:txBody>
      </p:sp>
      <p:sp>
        <p:nvSpPr>
          <p:cNvPr id="42" name="Freeform 42">
            <a:extLst>
              <a:ext uri="{FF2B5EF4-FFF2-40B4-BE49-F238E27FC236}">
                <a16:creationId xmlns:a16="http://schemas.microsoft.com/office/drawing/2014/main" id="{9FA7AA0E-CA6C-CBB7-58BE-93E3D2B9DCC1}"/>
              </a:ext>
            </a:extLst>
          </p:cNvPr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6">
              <a:alphaModFix amt="4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90E378F7-BE98-1675-96EF-D47C1F1BFADB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D608599C-4EA5-40B6-DE82-8713E62FBAE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439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CDE5F-F1DF-EC1B-502E-9D770F46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F6AC08B-32C8-FCA9-D0C9-5990BA9FF558}"/>
              </a:ext>
            </a:extLst>
          </p:cNvPr>
          <p:cNvGrpSpPr/>
          <p:nvPr/>
        </p:nvGrpSpPr>
        <p:grpSpPr>
          <a:xfrm>
            <a:off x="17054593" y="851402"/>
            <a:ext cx="167773" cy="167773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E5A4CAA-2134-C0EC-6103-0BB06DA974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DF1A58E-7059-8CC0-1F4A-A53FC6D87981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99C67CF-DC6F-E87D-23C0-F34208AF5DC1}"/>
              </a:ext>
            </a:extLst>
          </p:cNvPr>
          <p:cNvGrpSpPr/>
          <p:nvPr/>
        </p:nvGrpSpPr>
        <p:grpSpPr>
          <a:xfrm>
            <a:off x="16811042" y="851402"/>
            <a:ext cx="167773" cy="167773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49894E7-8DBE-90FA-BC64-C4C0B0B04B0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E9E926E-4687-F74E-2245-85179C22310D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098BB66-8DD3-B5C4-EB45-848DD8F48483}"/>
              </a:ext>
            </a:extLst>
          </p:cNvPr>
          <p:cNvGrpSpPr/>
          <p:nvPr/>
        </p:nvGrpSpPr>
        <p:grpSpPr>
          <a:xfrm>
            <a:off x="16570260" y="851402"/>
            <a:ext cx="167773" cy="167773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703F0D3-4AEE-6486-7BC7-CFF811BC0F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7871BF2-5CF0-8583-5D6F-9DD61E3A4D90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374B00A-9AA1-05DF-78EA-6C5DB678CABE}"/>
              </a:ext>
            </a:extLst>
          </p:cNvPr>
          <p:cNvGrpSpPr/>
          <p:nvPr/>
        </p:nvGrpSpPr>
        <p:grpSpPr>
          <a:xfrm>
            <a:off x="12816200" y="9979748"/>
            <a:ext cx="614504" cy="614504"/>
            <a:chOff x="0" y="0"/>
            <a:chExt cx="812800" cy="812800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4E1A321-D829-7848-79E1-ED5B84314E0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3309B68-A103-986B-5314-E86A4BAF9A84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F4857AD-AF2C-F8C1-9B4C-E09478E5672A}"/>
              </a:ext>
            </a:extLst>
          </p:cNvPr>
          <p:cNvGrpSpPr/>
          <p:nvPr/>
        </p:nvGrpSpPr>
        <p:grpSpPr>
          <a:xfrm>
            <a:off x="11924146" y="9979748"/>
            <a:ext cx="614504" cy="614504"/>
            <a:chOff x="0" y="0"/>
            <a:chExt cx="812800" cy="8128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4856138-524B-ACD5-5C36-68D1B1A5C0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D9622088-002D-E04B-BC88-3417F479F6DE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56EDDD75-A658-FF53-DB85-D460F9CF438A}"/>
              </a:ext>
            </a:extLst>
          </p:cNvPr>
          <p:cNvGrpSpPr/>
          <p:nvPr/>
        </p:nvGrpSpPr>
        <p:grpSpPr>
          <a:xfrm>
            <a:off x="11042233" y="9979748"/>
            <a:ext cx="614504" cy="614504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A309D2-FCB2-BB4D-D361-D294766B25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6CBA063C-C579-EFDF-F61F-77D2A5A63427}"/>
                </a:ext>
              </a:extLst>
            </p:cNvPr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B5493766-C046-9154-7D7F-049BF8883F20}"/>
              </a:ext>
            </a:extLst>
          </p:cNvPr>
          <p:cNvSpPr txBox="1"/>
          <p:nvPr/>
        </p:nvSpPr>
        <p:spPr>
          <a:xfrm>
            <a:off x="6051936" y="1590945"/>
            <a:ext cx="855345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pt-PT" sz="9600" b="1" noProof="0" dirty="0">
                <a:solidFill>
                  <a:srgbClr val="5CE1E6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Próximos Passos</a:t>
            </a:r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89A9AE5F-F640-417C-D297-7C8869AC1FBA}"/>
              </a:ext>
            </a:extLst>
          </p:cNvPr>
          <p:cNvSpPr/>
          <p:nvPr/>
        </p:nvSpPr>
        <p:spPr>
          <a:xfrm flipH="1" flipV="1">
            <a:off x="15979285" y="7817571"/>
            <a:ext cx="2699390" cy="2894789"/>
          </a:xfrm>
          <a:custGeom>
            <a:avLst/>
            <a:gdLst/>
            <a:ahLst/>
            <a:cxnLst/>
            <a:rect l="l" t="t" r="r" b="b"/>
            <a:pathLst>
              <a:path w="2699390" h="2894789">
                <a:moveTo>
                  <a:pt x="2699390" y="2894789"/>
                </a:moveTo>
                <a:lnTo>
                  <a:pt x="0" y="2894789"/>
                </a:lnTo>
                <a:lnTo>
                  <a:pt x="0" y="0"/>
                </a:lnTo>
                <a:lnTo>
                  <a:pt x="2699390" y="0"/>
                </a:lnTo>
                <a:lnTo>
                  <a:pt x="2699390" y="2894789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43" name="TextBox 34">
            <a:extLst>
              <a:ext uri="{FF2B5EF4-FFF2-40B4-BE49-F238E27FC236}">
                <a16:creationId xmlns:a16="http://schemas.microsoft.com/office/drawing/2014/main" id="{97B7E2CE-BA4E-A289-97FD-129E2C1D5662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rgbClr val="222222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rgbClr val="222222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44" name="Picture 43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BFB432A0-28BE-30EA-2FBE-5BF0BB4DFDD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  <p:sp>
        <p:nvSpPr>
          <p:cNvPr id="26" name="TextBox 36">
            <a:extLst>
              <a:ext uri="{FF2B5EF4-FFF2-40B4-BE49-F238E27FC236}">
                <a16:creationId xmlns:a16="http://schemas.microsoft.com/office/drawing/2014/main" id="{631E1AAB-30DA-C4FB-B22E-E8D02AD5409C}"/>
              </a:ext>
            </a:extLst>
          </p:cNvPr>
          <p:cNvSpPr txBox="1"/>
          <p:nvPr/>
        </p:nvSpPr>
        <p:spPr>
          <a:xfrm>
            <a:off x="5985261" y="3848100"/>
            <a:ext cx="8686799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PT" sz="3600" dirty="0"/>
              <a:t>Guardar os dados numa base de dados </a:t>
            </a:r>
            <a:r>
              <a:rPr lang="pt-PT" sz="3600" dirty="0" err="1"/>
              <a:t>MySQL</a:t>
            </a:r>
            <a:endParaRPr lang="pt-PT" sz="3600" dirty="0"/>
          </a:p>
          <a:p>
            <a:r>
              <a:rPr lang="pt-PT" sz="3600" dirty="0"/>
              <a:t>Integração do sensor PH</a:t>
            </a:r>
          </a:p>
          <a:p>
            <a:r>
              <a:rPr lang="pt-PT" sz="3600" dirty="0"/>
              <a:t>Alertas</a:t>
            </a:r>
          </a:p>
          <a:p>
            <a:r>
              <a:rPr lang="pt-PT" sz="3600" dirty="0"/>
              <a:t>Implementação do Modelo de IA</a:t>
            </a:r>
          </a:p>
          <a:p>
            <a:r>
              <a:rPr lang="pt-PT" sz="3600" dirty="0"/>
              <a:t>Aplicação Móvel</a:t>
            </a:r>
          </a:p>
        </p:txBody>
      </p:sp>
    </p:spTree>
    <p:extLst>
      <p:ext uri="{BB962C8B-B14F-4D97-AF65-F5344CB8AC3E}">
        <p14:creationId xmlns:p14="http://schemas.microsoft.com/office/powerpoint/2010/main" val="644022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8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8313" r="-27409" b="-15518"/>
            </a:stretch>
          </a:blipFill>
        </p:spPr>
        <p:txBody>
          <a:bodyPr/>
          <a:lstStyle/>
          <a:p>
            <a:endParaRPr lang="pt-PT" noProof="0" dirty="0"/>
          </a:p>
        </p:txBody>
      </p:sp>
      <p:sp>
        <p:nvSpPr>
          <p:cNvPr id="3" name="TextBox 3"/>
          <p:cNvSpPr txBox="1"/>
          <p:nvPr/>
        </p:nvSpPr>
        <p:spPr>
          <a:xfrm>
            <a:off x="1568483" y="2000645"/>
            <a:ext cx="11165556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131"/>
              </a:lnSpc>
            </a:pPr>
            <a:r>
              <a:rPr lang="pt-PT" sz="16131" b="1" noProof="0" dirty="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OBRIGADO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8483" y="4471800"/>
            <a:ext cx="8729409" cy="2579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pt-PT" sz="2100" noProof="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Professor:</a:t>
            </a:r>
          </a:p>
          <a:p>
            <a:pPr>
              <a:lnSpc>
                <a:spcPts val="2940"/>
              </a:lnSpc>
            </a:pPr>
            <a:r>
              <a:rPr lang="pt-PT" sz="210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Pedro Rosa  - Sistemas Distribuídos</a:t>
            </a:r>
          </a:p>
          <a:p>
            <a:pPr>
              <a:lnSpc>
                <a:spcPts val="2940"/>
              </a:lnSpc>
            </a:pPr>
            <a:endParaRPr lang="pt-PT" sz="2100" dirty="0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>
              <a:lnSpc>
                <a:spcPts val="2940"/>
              </a:lnSpc>
            </a:pPr>
            <a:r>
              <a:rPr lang="pt-PT" sz="210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Grupo:</a:t>
            </a:r>
          </a:p>
          <a:p>
            <a:pPr>
              <a:lnSpc>
                <a:spcPts val="2940"/>
              </a:lnSpc>
            </a:pPr>
            <a:r>
              <a:rPr lang="pt-PT" sz="210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Paulo Jadaugy – 20241711</a:t>
            </a:r>
          </a:p>
          <a:p>
            <a:pPr>
              <a:lnSpc>
                <a:spcPts val="2940"/>
              </a:lnSpc>
            </a:pPr>
            <a:r>
              <a:rPr lang="pt-PT" sz="210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Emanuel Carvalho – 20231627</a:t>
            </a:r>
          </a:p>
          <a:p>
            <a:pPr>
              <a:lnSpc>
                <a:spcPts val="2940"/>
              </a:lnSpc>
            </a:pPr>
            <a:r>
              <a:rPr lang="pt-PT" sz="2100" dirty="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Rui Outeiro - 20231566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5862815" y="9979748"/>
            <a:ext cx="614504" cy="61450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/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970761" y="9979748"/>
            <a:ext cx="614504" cy="61450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49804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088847" y="9979748"/>
            <a:ext cx="614504" cy="614504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E1E6">
                <a:alpha val="14902"/>
              </a:srgbClr>
            </a:solidFill>
          </p:spPr>
          <p:txBody>
            <a:bodyPr/>
            <a:lstStyle/>
            <a:p>
              <a:endParaRPr lang="pt-PT" noProof="0" dirty="0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0"/>
                </a:lnSpc>
              </a:pPr>
              <a:endParaRPr lang="pt-PT" noProof="0" dirty="0"/>
            </a:p>
          </p:txBody>
        </p:sp>
      </p:grpSp>
      <p:sp>
        <p:nvSpPr>
          <p:cNvPr id="25" name="TextBox 34">
            <a:extLst>
              <a:ext uri="{FF2B5EF4-FFF2-40B4-BE49-F238E27FC236}">
                <a16:creationId xmlns:a16="http://schemas.microsoft.com/office/drawing/2014/main" id="{2C2808C4-E435-011A-CD9D-C40BF5334C58}"/>
              </a:ext>
            </a:extLst>
          </p:cNvPr>
          <p:cNvSpPr txBox="1"/>
          <p:nvPr/>
        </p:nvSpPr>
        <p:spPr>
          <a:xfrm>
            <a:off x="1846853" y="802005"/>
            <a:ext cx="4205083" cy="406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pt-PT" sz="2400" b="1" noProof="0" dirty="0" err="1">
                <a:solidFill>
                  <a:schemeClr val="bg1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AquaSense</a:t>
            </a:r>
            <a:endParaRPr lang="pt-PT" sz="2400" b="1" noProof="0" dirty="0">
              <a:solidFill>
                <a:schemeClr val="bg1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pic>
        <p:nvPicPr>
          <p:cNvPr id="26" name="Picture 25" descr="A logo with a brain and water drop&#10;&#10;AI-generated content may be incorrect.">
            <a:extLst>
              <a:ext uri="{FF2B5EF4-FFF2-40B4-BE49-F238E27FC236}">
                <a16:creationId xmlns:a16="http://schemas.microsoft.com/office/drawing/2014/main" id="{5223CD4F-D0DB-4C58-53E3-35C35E1E89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35" y="447405"/>
            <a:ext cx="1143540" cy="11435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450</Words>
  <Application>Microsoft Office PowerPoint</Application>
  <PresentationFormat>Custom</PresentationFormat>
  <Paragraphs>96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Open Sans 2 Bold</vt:lpstr>
      <vt:lpstr>Barlow Condensed Bold</vt:lpstr>
      <vt:lpstr>Open Sans 1 Bold</vt:lpstr>
      <vt:lpstr>Calibri</vt:lpstr>
      <vt:lpstr>Open Sans 1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Tank and Aquarium Presentation Template</dc:title>
  <dc:creator>Paulo Jadaugy</dc:creator>
  <cp:lastModifiedBy>Paulo André Moreira Jadaugy</cp:lastModifiedBy>
  <cp:revision>19</cp:revision>
  <dcterms:created xsi:type="dcterms:W3CDTF">2006-08-16T00:00:00Z</dcterms:created>
  <dcterms:modified xsi:type="dcterms:W3CDTF">2025-12-16T22:47:10Z</dcterms:modified>
  <dc:identifier>DAG4m1YW_6g</dc:identifier>
</cp:coreProperties>
</file>